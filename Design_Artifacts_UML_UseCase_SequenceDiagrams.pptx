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6858000" type="screen4x3"/>
  <p:notesSz cx="6858000" cy="9144000"/>
  <p:embeddedFontLst>
    <p:embeddedFont>
      <p:font typeface="Century Schoolbook" panose="02040604050505020304" pitchFamily="18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bPdGBwH8xJVvJEw7xSXCWYQhC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5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20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7daed9ba2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47daed9b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47daed9b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daed9ba2_0_5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7daed9ba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47daed9ba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7daed9ba2_0_15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47daed9ba2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47daed9ba2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7daed9ba2_0_24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47daed9ba2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47daed9ba2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7daed9ba2_0_3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47daed9ba2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47daed9ba2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7daed9ba2_0_44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47daed9ba2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47daed9ba2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7daed9ba2_0_5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47daed9ba2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47daed9ba2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7daed9ba2_0_64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47daed9ba2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47daed9ba2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911b7c667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4911b7c6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4911b7c6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911b7c667_0_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4911b7c66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4911b7c66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911b7c667_0_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4911b7c6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4911b7c6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7daed9ba2_0_73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47daed9ba2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47daed9ba2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e5c1723b5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4e5c1723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4e5c1723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938f1157f_0_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4938f1157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4938f1157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938f1157f_0_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4938f11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34938f11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938f1157f_0_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4938f1157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4938f1157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938f1157f_0_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4938f115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4938f115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4938f1157f_0_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4938f1157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4938f1157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4938f1157f_0_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4938f1157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g34938f1157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30"/>
              <a:buFont typeface="Noto Sans Symbols"/>
              <a:buNone/>
              <a:defRPr sz="29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body" idx="1"/>
          </p:nvPr>
        </p:nvSpPr>
        <p:spPr>
          <a:xfrm>
            <a:off x="457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2"/>
          </p:nvPr>
        </p:nvSpPr>
        <p:spPr>
          <a:xfrm>
            <a:off x="4648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>
            <a:spLocks noGrp="1"/>
          </p:cNvSpPr>
          <p:nvPr>
            <p:ph type="title"/>
          </p:nvPr>
        </p:nvSpPr>
        <p:spPr>
          <a:xfrm rot="5400000">
            <a:off x="4653757" y="2097882"/>
            <a:ext cx="600868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1"/>
          </p:nvPr>
        </p:nvSpPr>
        <p:spPr>
          <a:xfrm rot="5400000">
            <a:off x="462756" y="116681"/>
            <a:ext cx="6008687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1"/>
          </p:nvPr>
        </p:nvSpPr>
        <p:spPr>
          <a:xfrm rot="5400000">
            <a:off x="2366169" y="-189707"/>
            <a:ext cx="44116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3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30" name="Google Shape;130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5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" name="Google Shape;11;p25"/>
          <p:cNvGrpSpPr/>
          <p:nvPr/>
        </p:nvGrpSpPr>
        <p:grpSpPr>
          <a:xfrm>
            <a:off x="7493000" y="2992437"/>
            <a:ext cx="1338262" cy="2189162"/>
            <a:chOff x="4704" y="1885"/>
            <a:chExt cx="843" cy="1379"/>
          </a:xfrm>
        </p:grpSpPr>
        <p:sp>
          <p:nvSpPr>
            <p:cNvPr id="12" name="Google Shape;12;p25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5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5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5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5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5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5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5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5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5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5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5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5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5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5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5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5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5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5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5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5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5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5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5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5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5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5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43;p25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639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3055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33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27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2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639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3055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33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1" name="Google Shape;61;p27"/>
          <p:cNvGrpSpPr/>
          <p:nvPr/>
        </p:nvGrpSpPr>
        <p:grpSpPr>
          <a:xfrm>
            <a:off x="8153400" y="152400"/>
            <a:ext cx="792162" cy="1295400"/>
            <a:chOff x="5136" y="960"/>
            <a:chExt cx="528" cy="864"/>
          </a:xfrm>
        </p:grpSpPr>
        <p:sp>
          <p:nvSpPr>
            <p:cNvPr id="62" name="Google Shape;62;p27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7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7"/>
            <p:cNvSpPr/>
            <p:nvPr/>
          </p:nvSpPr>
          <p:spPr>
            <a:xfrm>
              <a:off x="5360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7"/>
            <p:cNvSpPr/>
            <p:nvPr/>
          </p:nvSpPr>
          <p:spPr>
            <a:xfrm>
              <a:off x="5136" y="1072"/>
              <a:ext cx="80" cy="7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7"/>
            <p:cNvSpPr/>
            <p:nvPr/>
          </p:nvSpPr>
          <p:spPr>
            <a:xfrm>
              <a:off x="5248" y="1072"/>
              <a:ext cx="79" cy="7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7"/>
            <p:cNvSpPr/>
            <p:nvPr/>
          </p:nvSpPr>
          <p:spPr>
            <a:xfrm>
              <a:off x="5360" y="1072"/>
              <a:ext cx="79" cy="7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7"/>
            <p:cNvSpPr/>
            <p:nvPr/>
          </p:nvSpPr>
          <p:spPr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>
              <a:off x="5136" y="1184"/>
              <a:ext cx="80" cy="7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7"/>
            <p:cNvSpPr/>
            <p:nvPr/>
          </p:nvSpPr>
          <p:spPr>
            <a:xfrm>
              <a:off x="5248" y="1184"/>
              <a:ext cx="79" cy="7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7"/>
            <p:cNvSpPr/>
            <p:nvPr/>
          </p:nvSpPr>
          <p:spPr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7"/>
            <p:cNvSpPr/>
            <p:nvPr/>
          </p:nvSpPr>
          <p:spPr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7"/>
            <p:cNvSpPr/>
            <p:nvPr/>
          </p:nvSpPr>
          <p:spPr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7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7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7"/>
            <p:cNvSpPr/>
            <p:nvPr/>
          </p:nvSpPr>
          <p:spPr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7"/>
            <p:cNvSpPr/>
            <p:nvPr/>
          </p:nvSpPr>
          <p:spPr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7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7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7"/>
            <p:cNvSpPr/>
            <p:nvPr/>
          </p:nvSpPr>
          <p:spPr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7"/>
            <p:cNvSpPr/>
            <p:nvPr/>
          </p:nvSpPr>
          <p:spPr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7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7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7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7"/>
            <p:cNvSpPr/>
            <p:nvPr/>
          </p:nvSpPr>
          <p:spPr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7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7"/>
            <p:cNvSpPr/>
            <p:nvPr/>
          </p:nvSpPr>
          <p:spPr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ml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2se/javadoc/index.jsp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dom.org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java.sun.com/products/jfc/tsc/index.htm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clipse.org/" TargetMode="External"/><Relationship Id="rId4" Type="http://schemas.openxmlformats.org/officeDocument/2006/relationships/hyperlink" Target="http://www.cvshome.org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7daed9ba2_0_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47daed9ba2_0_0"/>
          <p:cNvSpPr txBox="1"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Lab04-SmallWorld Artifacts</a:t>
            </a:r>
            <a:endParaRPr/>
          </a:p>
        </p:txBody>
      </p:sp>
      <p:sp>
        <p:nvSpPr>
          <p:cNvPr id="153" name="Google Shape;153;g347daed9ba2_0_0"/>
          <p:cNvSpPr txBox="1"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30"/>
              <a:buFont typeface="Arial"/>
              <a:buNone/>
            </a:pP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lang="en-US" sz="3600" b="1" dirty="0" err="1">
                <a:latin typeface="Calibri"/>
                <a:ea typeface="Calibri"/>
                <a:cs typeface="Calibri"/>
                <a:sym typeface="Calibri"/>
              </a:rPr>
              <a:t>CritFail</a:t>
            </a: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30"/>
              <a:buFont typeface="Arial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Kylie Arnett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30"/>
              <a:buFont typeface="Arial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William Locklier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30"/>
              <a:buFont typeface="Arial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Jeremy Quijano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7daed9ba2_0_5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/>
          </a:p>
        </p:txBody>
      </p:sp>
      <p:sp>
        <p:nvSpPr>
          <p:cNvPr id="160" name="Google Shape;160;g347daed9ba2_0_53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SmallWorld is envisioned to be a </a:t>
            </a:r>
            <a:r>
              <a:rPr lang="en-US" sz="2200" b="1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</a:t>
            </a:r>
            <a:r>
              <a:rPr lang="en-US" sz="22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text-oriented adventure</a:t>
            </a: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Colossal Cave Adventure game, produced in the '70s, was the historic first “interactive fiction” game, in which the computer would simulate and describe a situation and the user would type in what to do next, in simple English.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Opportunity</a:t>
            </a: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Retro games are all the rage—SmallWorld, a data-driven text-based exploration game, will allow us to:</a:t>
            </a:r>
            <a:endParaRPr/>
          </a:p>
          <a:p>
            <a:pPr marL="987425" lvl="2" indent="-291782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US" sz="1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Provide a retro game product</a:t>
            </a:r>
            <a:endParaRPr/>
          </a:p>
          <a:p>
            <a:pPr marL="987425" lvl="2" indent="-291782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US" sz="1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 an active “mod” community</a:t>
            </a:r>
            <a:endParaRPr sz="19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87425" lvl="2" indent="-2962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entury Schoolbook"/>
              <a:buChar char="●"/>
            </a:pPr>
            <a:r>
              <a:rPr lang="en-US"/>
              <a:t>Provide an interactive text-based environment to the player</a:t>
            </a:r>
            <a:endParaRPr/>
          </a:p>
          <a:p>
            <a:pPr marL="987425" lvl="2" indent="-2962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entury Schoolbook"/>
              <a:buChar char="●"/>
            </a:pPr>
            <a:r>
              <a:rPr lang="en-US"/>
              <a:t>Provide a point system to the player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7daed9ba2_0_150"/>
          <p:cNvSpPr txBox="1">
            <a:spLocks noGrp="1"/>
          </p:cNvSpPr>
          <p:nvPr>
            <p:ph type="title"/>
          </p:nvPr>
        </p:nvSpPr>
        <p:spPr>
          <a:xfrm>
            <a:off x="1524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of System Features - Updated</a:t>
            </a:r>
            <a:endParaRPr/>
          </a:p>
        </p:txBody>
      </p:sp>
      <p:sp>
        <p:nvSpPr>
          <p:cNvPr id="167" name="Google Shape;167;g347daed9ba2_0_150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Ability to create and explore diverse and fantastic alternative worlds</a:t>
            </a:r>
            <a:endParaRPr/>
          </a:p>
          <a:p>
            <a:pPr marL="342900" lvl="0" indent="-34036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Ability to save (or load) the game at any point during play</a:t>
            </a:r>
            <a:endParaRPr sz="22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entury Schoolbook"/>
              <a:buChar char="●"/>
            </a:pPr>
            <a:r>
              <a:rPr lang="en-US"/>
              <a:t>Ability to pick up/drop items places in the world </a:t>
            </a:r>
            <a:endParaRPr/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entury Schoolbook"/>
              <a:buChar char="●"/>
            </a:pPr>
            <a:r>
              <a:rPr lang="en-US"/>
              <a:t>Ability to list the inventory of the player</a:t>
            </a:r>
            <a:endParaRPr/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entury Schoolbook"/>
              <a:buChar char="●"/>
            </a:pPr>
            <a:r>
              <a:rPr lang="en-US"/>
              <a:t>Ability to solve riddles and explore various rooms </a:t>
            </a:r>
            <a:endParaRPr sz="3300"/>
          </a:p>
          <a:p>
            <a:pPr marL="342900" lvl="0" indent="-34036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Support for multiple types of computers and operating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>
            <a:spLocks noGrp="1"/>
          </p:cNvSpPr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Case Model</a:t>
            </a:r>
            <a:endParaRPr/>
          </a:p>
        </p:txBody>
      </p:sp>
      <p:sp>
        <p:nvSpPr>
          <p:cNvPr id="175" name="Google Shape;175;p4"/>
          <p:cNvSpPr txBox="1">
            <a:spLocks noGrp="1"/>
          </p:cNvSpPr>
          <p:nvPr>
            <p:ph type="subTitle" idx="1"/>
          </p:nvPr>
        </p:nvSpPr>
        <p:spPr>
          <a:xfrm>
            <a:off x="849312" y="30495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r>
              <a:rPr lang="en-US" sz="2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SmallWorld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5"/>
          <p:cNvPicPr preferRelativeResize="0"/>
          <p:nvPr/>
        </p:nvPicPr>
        <p:blipFill rotWithShape="1">
          <a:blip r:embed="rId3">
            <a:alphaModFix/>
          </a:blip>
          <a:srcRect t="50000" r="44653" b="17444"/>
          <a:stretch/>
        </p:blipFill>
        <p:spPr>
          <a:xfrm>
            <a:off x="-171450" y="6364275"/>
            <a:ext cx="4277101" cy="4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2400"/>
            <a:ext cx="7855492" cy="62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7daed9ba2_0_248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UC1: Play Game</a:t>
            </a:r>
            <a:endParaRPr/>
          </a:p>
        </p:txBody>
      </p:sp>
      <p:sp>
        <p:nvSpPr>
          <p:cNvPr id="189" name="Google Shape;189;g347daed9ba2_0_248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4191000" cy="49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user-goal</a:t>
            </a:r>
            <a:endParaRPr/>
          </a:p>
          <a:p>
            <a:pPr marL="381000" lvl="0" indent="-3810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Primary Actor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</a:t>
            </a:r>
            <a:endParaRPr/>
          </a:p>
          <a:p>
            <a:pPr marL="381000" lvl="0" indent="-3810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is on a computer with the game installed.</a:t>
            </a:r>
            <a:endParaRPr/>
          </a:p>
          <a:p>
            <a:pPr marL="381000" lvl="0" indent="-3810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starts the game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Game initializes the default simulated world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 Player enters command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4. Game executes command</a:t>
            </a:r>
            <a:endParaRPr sz="1600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i="1"/>
              <a:t>If player picks up items/drop, or use items points are added to the system</a:t>
            </a:r>
            <a:endParaRPr sz="1600" i="1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rPr lang="en-US" sz="1600" i="1"/>
              <a:t>Player repeats steps 3-4 until game ends or player quits the game</a:t>
            </a:r>
            <a:endParaRPr sz="1600" i="1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5. Game exits</a:t>
            </a:r>
            <a:endParaRPr/>
          </a:p>
          <a:p>
            <a:pPr marL="381000" lvl="0" indent="-3810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4a. Move command: </a:t>
            </a:r>
            <a:r>
              <a:rPr lang="en-US" sz="1600" b="0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Include </a:t>
            </a:r>
            <a:r>
              <a:rPr lang="en-US" sz="1600" b="0" i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4b. Look command: </a:t>
            </a:r>
            <a:r>
              <a:rPr lang="en-US" sz="1600" b="0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Include </a:t>
            </a:r>
            <a:r>
              <a:rPr lang="en-US" sz="1600" b="0" i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Look</a:t>
            </a:r>
            <a:endParaRPr/>
          </a:p>
        </p:txBody>
      </p:sp>
      <p:sp>
        <p:nvSpPr>
          <p:cNvPr id="190" name="Google Shape;190;g347daed9ba2_0_248"/>
          <p:cNvSpPr txBox="1">
            <a:spLocks noGrp="1"/>
          </p:cNvSpPr>
          <p:nvPr>
            <p:ph type="body" idx="1"/>
          </p:nvPr>
        </p:nvSpPr>
        <p:spPr>
          <a:xfrm>
            <a:off x="4343400" y="1795450"/>
            <a:ext cx="4762200" cy="49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2150" lvl="1" indent="-3476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4c. Save command: </a:t>
            </a:r>
            <a:r>
              <a:rPr lang="en-US" sz="1600" b="0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Include </a:t>
            </a:r>
            <a:r>
              <a:rPr lang="en-US" sz="1600" b="0" i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Save Game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4d. Load command: </a:t>
            </a:r>
            <a:r>
              <a:rPr lang="en-US" sz="1600" b="0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Include </a:t>
            </a:r>
            <a:r>
              <a:rPr lang="en-US" sz="1600" b="0" i="1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Load Game</a:t>
            </a:r>
            <a:endParaRPr sz="1600" b="0" i="1" u="sng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4e. Pick up command: </a:t>
            </a:r>
            <a:r>
              <a:rPr lang="en-US" sz="1600" i="1" u="sng"/>
              <a:t>Include Item </a:t>
            </a:r>
            <a:endParaRPr sz="1600" i="1" u="sng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4f. Drop command:</a:t>
            </a:r>
            <a:r>
              <a:rPr lang="en-US" sz="1600" i="1" u="sng"/>
              <a:t> Include Item</a:t>
            </a:r>
            <a:endParaRPr sz="1600" i="1" u="sng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4g: Use command: </a:t>
            </a:r>
            <a:r>
              <a:rPr lang="en-US" sz="1600" i="1" u="sng"/>
              <a:t>Include Item</a:t>
            </a:r>
            <a:endParaRPr sz="1600" i="1" u="sng"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4e. Unrecognized command: display a polite error message to the user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Game response to a player command should be within half a second.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entire definition of a game world should be held in data—none of it should be hard-coded within the software.  This is necessary to enable a thriving “mod” community to develop around the game.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&amp;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game should run on Windows, Mac, Linux.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7daed9ba2_0_346"/>
          <p:cNvSpPr txBox="1">
            <a:spLocks noGrp="1"/>
          </p:cNvSpPr>
          <p:nvPr>
            <p:ph type="title"/>
          </p:nvPr>
        </p:nvSpPr>
        <p:spPr>
          <a:xfrm>
            <a:off x="457200" y="-18256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UC2: Move</a:t>
            </a:r>
            <a:endParaRPr/>
          </a:p>
        </p:txBody>
      </p:sp>
      <p:sp>
        <p:nvSpPr>
          <p:cNvPr id="197" name="Google Shape;197;g347daed9ba2_0_346"/>
          <p:cNvSpPr txBox="1">
            <a:spLocks noGrp="1"/>
          </p:cNvSpPr>
          <p:nvPr>
            <p:ph type="body" idx="1"/>
          </p:nvPr>
        </p:nvSpPr>
        <p:spPr>
          <a:xfrm>
            <a:off x="457200" y="1185862"/>
            <a:ext cx="41910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2" lvl="0" indent="-34131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41312" lvl="0" indent="-34131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41312" lvl="0" indent="-34131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must have the item needed to enter </a:t>
            </a:r>
            <a:r>
              <a:rPr lang="en-US" sz="1600"/>
              <a:t>the room and 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chose to move his or her player in a specified direction.</a:t>
            </a:r>
            <a:endParaRPr/>
          </a:p>
          <a:p>
            <a:pPr marL="341312" lvl="0" indent="-34131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Game determines place that is in the specified direction of the player’s current location</a:t>
            </a:r>
            <a:endParaRPr/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Game moves player to the new location</a:t>
            </a:r>
            <a:endParaRPr/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 Game reports the player’s new location with a description that includes the new location’s contents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4. Game checks to see if player has the item required to enter room </a:t>
            </a:r>
            <a:endParaRPr sz="1600"/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5. Game checks to see if room is labeled with win condition tag</a:t>
            </a:r>
            <a:endParaRPr sz="1600"/>
          </a:p>
          <a:p>
            <a:pPr marL="692150" lvl="1" indent="-236537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6. Game displays the game has been won to player</a:t>
            </a:r>
            <a:endParaRPr sz="1600"/>
          </a:p>
        </p:txBody>
      </p:sp>
      <p:sp>
        <p:nvSpPr>
          <p:cNvPr id="198" name="Google Shape;198;g347daed9ba2_0_346"/>
          <p:cNvSpPr txBox="1">
            <a:spLocks noGrp="1"/>
          </p:cNvSpPr>
          <p:nvPr>
            <p:ph type="body" idx="1"/>
          </p:nvPr>
        </p:nvSpPr>
        <p:spPr>
          <a:xfrm>
            <a:off x="4495800" y="1414450"/>
            <a:ext cx="44679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1a. If the player can’t go that way, an error message is displayed and the use case terminates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2a. If the player does not have the item required to enter the room, a message will display indicating the player needs an item to enter</a:t>
            </a:r>
            <a:endParaRPr sz="16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3a. If the new location is a winning location, system reports player wins and ends game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639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●"/>
            </a:pPr>
            <a:r>
              <a:rPr lang="en-US" sz="1600"/>
              <a:t>Room is to be labeled with a win tag</a:t>
            </a:r>
            <a:endParaRPr sz="1600"/>
          </a:p>
          <a:p>
            <a:pPr marL="692150" lvl="1" indent="-34639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00"/>
              <a:buChar char="●"/>
            </a:pPr>
            <a:r>
              <a:rPr lang="en-US" sz="1600"/>
              <a:t>Room is labeled with item required tag</a:t>
            </a:r>
            <a:endParaRPr sz="1600"/>
          </a:p>
          <a:p>
            <a:pPr marL="692150" lvl="1" indent="-37814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Room is labeled with Riddle tag</a:t>
            </a:r>
            <a:endParaRPr sz="1600"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639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UI may prohibit extension 1a from occurring. 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639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7daed9ba2_0_44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UC3: Look</a:t>
            </a:r>
            <a:endParaRPr/>
          </a:p>
        </p:txBody>
      </p:sp>
      <p:sp>
        <p:nvSpPr>
          <p:cNvPr id="205" name="Google Shape;205;g347daed9ba2_0_444"/>
          <p:cNvSpPr txBox="1">
            <a:spLocks noGrp="1"/>
          </p:cNvSpPr>
          <p:nvPr>
            <p:ph type="body" idx="1"/>
          </p:nvPr>
        </p:nvSpPr>
        <p:spPr>
          <a:xfrm>
            <a:off x="457200" y="1719263"/>
            <a:ext cx="4038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chose to look at the current location of the player.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Game reports the player’s current location with a description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2. Game reports any items in the area that can be picked up or used</a:t>
            </a:r>
            <a:endParaRPr sz="1600"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  <p:sp>
        <p:nvSpPr>
          <p:cNvPr id="206" name="Google Shape;206;g347daed9ba2_0_444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038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UI may provide a constant view of information about the player’s current location so this command may not be needed.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7daed9ba2_0_54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UC4: Save Game</a:t>
            </a:r>
            <a:endParaRPr/>
          </a:p>
        </p:txBody>
      </p:sp>
      <p:sp>
        <p:nvSpPr>
          <p:cNvPr id="213" name="Google Shape;213;g347daed9ba2_0_542"/>
          <p:cNvSpPr txBox="1">
            <a:spLocks noGrp="1"/>
          </p:cNvSpPr>
          <p:nvPr>
            <p:ph type="body" idx="1"/>
          </p:nvPr>
        </p:nvSpPr>
        <p:spPr>
          <a:xfrm>
            <a:off x="457200" y="1719263"/>
            <a:ext cx="4038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chose to save the current state of the game.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specifies the name and location for the saved game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System saves the entire game state to the specified name and location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3. System saves the inventory state of player</a:t>
            </a:r>
            <a:endParaRPr sz="16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 System informs the user the game has been saved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2a. If the save fails for any reason, a diagnostic error message is presented to the user</a:t>
            </a:r>
            <a:endParaRPr/>
          </a:p>
        </p:txBody>
      </p:sp>
      <p:sp>
        <p:nvSpPr>
          <p:cNvPr id="214" name="Google Shape;214;g347daed9ba2_0_542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038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entire definition of a game world should be held in data—none of it should be hard-coded within the software.  This is necessary to enable a thriving “mod” community to develop around the game.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saved game will go into a file and use XML and be portable across all supported operating systems.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7daed9ba2_0_64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UC5: Load Game</a:t>
            </a:r>
            <a:endParaRPr/>
          </a:p>
        </p:txBody>
      </p:sp>
      <p:sp>
        <p:nvSpPr>
          <p:cNvPr id="221" name="Google Shape;221;g347daed9ba2_0_640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41910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chose to load a previously saved game into the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specifies the name and location for the saved game state to load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System loads the entire game state to the game (discards the current game state)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3. System loads the inventory state of the player, and updates players inventory</a:t>
            </a:r>
            <a:endParaRPr sz="16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4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 System informs the user the load has completed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2a. If the load fails for any reason, a diagnostic error message is</a:t>
            </a:r>
            <a:endParaRPr/>
          </a:p>
        </p:txBody>
      </p:sp>
      <p:sp>
        <p:nvSpPr>
          <p:cNvPr id="222" name="Google Shape;222;g347daed9ba2_0_640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2417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2150" lvl="1" indent="-3476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presented to the user and the current world state is maintained</a:t>
            </a:r>
            <a:endParaRPr sz="1400" b="1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entire definition of a game world should be held in data—none of it should be hard-coded within the software.  This is necessary to enable a thriving “mod” community to develop around the game.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saved game will go into a file and use XML and be portable across all supported operating systems.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911b7c667_0_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UC5: </a:t>
            </a:r>
            <a:r>
              <a:rPr lang="en-US"/>
              <a:t>Item- Pick Up</a:t>
            </a: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9" name="Google Shape;229;g34911b7c667_0_0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41910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</a:t>
            </a:r>
            <a:r>
              <a:rPr lang="en-US" sz="1600"/>
              <a:t>picks up an item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</a:t>
            </a:r>
            <a:r>
              <a:rPr lang="en-US" sz="1600"/>
              <a:t>picks up an item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System </a:t>
            </a:r>
            <a:r>
              <a:rPr lang="en-US" sz="1600"/>
              <a:t>updates the Users inventory to show said item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3. System updates users point score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1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a. If the </a:t>
            </a:r>
            <a:r>
              <a:rPr lang="en-US" sz="1600"/>
              <a:t>item pick up fails in anyway, System should prompt user an error has occurred </a:t>
            </a:r>
            <a:endParaRPr sz="1600"/>
          </a:p>
          <a:p>
            <a:pPr marL="344487" lvl="1" indent="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/>
          </a:p>
        </p:txBody>
      </p:sp>
      <p:sp>
        <p:nvSpPr>
          <p:cNvPr id="230" name="Google Shape;230;g34911b7c667_0_0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2417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2150" lvl="1" indent="-3476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 sz="1400" b="1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/>
              <a:t>none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saved game will go into a file and use XML and be portable across all supported operating systems.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911b7c667_0_1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UC5: </a:t>
            </a:r>
            <a:r>
              <a:rPr lang="en-US"/>
              <a:t>Item- Drop</a:t>
            </a: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7" name="Google Shape;237;g34911b7c667_0_14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41910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</a:t>
            </a:r>
            <a:r>
              <a:rPr lang="en-US" sz="1600"/>
              <a:t>picks up an item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</a:t>
            </a:r>
            <a:r>
              <a:rPr lang="en-US" sz="1600"/>
              <a:t>drops an item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System </a:t>
            </a:r>
            <a:r>
              <a:rPr lang="en-US" sz="1600"/>
              <a:t>updates the Users inventory to show item is no longer in players hand</a:t>
            </a:r>
            <a:endParaRPr sz="16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3. System updates users point score</a:t>
            </a:r>
            <a:endParaRPr/>
          </a:p>
          <a:p>
            <a:pPr marL="381000" lvl="0" indent="-3810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1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a. If the </a:t>
            </a:r>
            <a:r>
              <a:rPr lang="en-US" sz="1600"/>
              <a:t>item drop fails in anyway, System should prompt user an error has occurred </a:t>
            </a:r>
            <a:endParaRPr sz="1600"/>
          </a:p>
          <a:p>
            <a:pPr marL="344487" lvl="1" indent="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/>
          </a:p>
        </p:txBody>
      </p:sp>
      <p:sp>
        <p:nvSpPr>
          <p:cNvPr id="238" name="Google Shape;238;g34911b7c667_0_14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2417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2150" lvl="1" indent="-3476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 sz="1400" b="1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/>
              <a:t>none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saved game will go into a file and use XML and be portable across all supported operating systems.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911b7c667_0_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UC5: </a:t>
            </a:r>
            <a:r>
              <a:rPr lang="en-US"/>
              <a:t>Solve Riddle</a:t>
            </a:r>
            <a:endParaRPr/>
          </a:p>
        </p:txBody>
      </p:sp>
      <p:sp>
        <p:nvSpPr>
          <p:cNvPr id="245" name="Google Shape;245;g34911b7c667_0_7"/>
          <p:cNvSpPr txBox="1">
            <a:spLocks noGrp="1"/>
          </p:cNvSpPr>
          <p:nvPr>
            <p:ph type="body" idx="1"/>
          </p:nvPr>
        </p:nvSpPr>
        <p:spPr>
          <a:xfrm>
            <a:off x="457200" y="1463237"/>
            <a:ext cx="41910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0"/>
              <a:buFont typeface="Noto Sans Symbols"/>
              <a:buChar char="●"/>
            </a:pPr>
            <a:r>
              <a:rPr lang="en-US" sz="15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Scope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SmallWorld game</a:t>
            </a:r>
            <a:endParaRPr sz="2700"/>
          </a:p>
          <a:p>
            <a:pPr marL="381000" lvl="0" indent="-37465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020"/>
              <a:buFont typeface="Noto Sans Symbols"/>
              <a:buChar char="●"/>
            </a:pPr>
            <a:r>
              <a:rPr lang="en-US" sz="15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Level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subfunction</a:t>
            </a:r>
            <a:endParaRPr sz="2700"/>
          </a:p>
          <a:p>
            <a:pPr marL="381000" lvl="0" indent="-37465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020"/>
              <a:buFont typeface="Noto Sans Symbols"/>
              <a:buChar char="●"/>
            </a:pPr>
            <a:r>
              <a:rPr lang="en-US" sz="15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Precondition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 User </a:t>
            </a:r>
            <a:r>
              <a:rPr lang="en-US" sz="1500"/>
              <a:t>must enter the solve riddle state (Will be triggered when user tries to enter a certain room labeled riddle)</a:t>
            </a:r>
            <a:endParaRPr sz="2700"/>
          </a:p>
          <a:p>
            <a:pPr marL="381000" lvl="0" indent="-37465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020"/>
              <a:buFont typeface="Noto Sans Symbols"/>
              <a:buChar char="●"/>
            </a:pPr>
            <a:r>
              <a:rPr lang="en-US" sz="15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Main Success Scenario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sz="27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User </a:t>
            </a:r>
            <a:r>
              <a:rPr lang="en-US" sz="1500"/>
              <a:t>tries to enter a specific room (Labeled Riddle)</a:t>
            </a:r>
            <a:endParaRPr sz="23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</a:t>
            </a:r>
            <a:r>
              <a:rPr lang="en-US" sz="1500"/>
              <a:t>System prompts a riddle to the User</a:t>
            </a:r>
            <a:endParaRPr sz="15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500"/>
              <a:t>3. User enters the answer to riddle</a:t>
            </a:r>
            <a:endParaRPr sz="15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500"/>
              <a:t>4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 System informs the user </a:t>
            </a:r>
            <a:r>
              <a:rPr lang="en-US" sz="1500"/>
              <a:t>riddle has been solved and allows user to enter the room</a:t>
            </a:r>
            <a:endParaRPr sz="2300"/>
          </a:p>
          <a:p>
            <a:pPr marL="381000" lvl="0" indent="-37465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020"/>
              <a:buFont typeface="Noto Sans Symbols"/>
              <a:buChar char="●"/>
            </a:pPr>
            <a:r>
              <a:rPr lang="en-US" sz="15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Extensions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sz="2700"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US" sz="1500"/>
              <a:t>3</a:t>
            </a:r>
            <a:r>
              <a:rPr lang="en-US" sz="15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a. If the </a:t>
            </a:r>
            <a:r>
              <a:rPr lang="en-US" sz="1500"/>
              <a:t>riddle is answered incorrectly System will prompt the user to try again, </a:t>
            </a:r>
            <a:r>
              <a:rPr lang="en-US" sz="1600"/>
              <a:t>and the current world state is maintained</a:t>
            </a:r>
            <a:endParaRPr sz="2300"/>
          </a:p>
        </p:txBody>
      </p:sp>
      <p:sp>
        <p:nvSpPr>
          <p:cNvPr id="246" name="Google Shape;246;g34911b7c667_0_7"/>
          <p:cNvSpPr txBox="1">
            <a:spLocks noGrp="1"/>
          </p:cNvSpPr>
          <p:nvPr>
            <p:ph type="body" idx="1"/>
          </p:nvPr>
        </p:nvSpPr>
        <p:spPr>
          <a:xfrm>
            <a:off x="4648200" y="1719262"/>
            <a:ext cx="42417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92150" lvl="1" indent="-3476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endParaRPr sz="1400" b="1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Requirements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/>
              <a:t>None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Technology and Data Variations List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/>
              <a:t>None</a:t>
            </a:r>
            <a:endParaRPr/>
          </a:p>
          <a:p>
            <a:pPr marL="342900" lvl="0" indent="-342900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lang="en-US" sz="1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 Issues</a:t>
            </a: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92150" lvl="1" indent="-347662" algn="l" rtl="0">
              <a:lnSpc>
                <a:spcPct val="95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lang="en-US" sz="1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>
            <a:spLocks noGrp="1"/>
          </p:cNvSpPr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/>
          </a:p>
        </p:txBody>
      </p:sp>
      <p:sp>
        <p:nvSpPr>
          <p:cNvPr id="254" name="Google Shape;254;p12"/>
          <p:cNvSpPr txBox="1">
            <a:spLocks noGrp="1"/>
          </p:cNvSpPr>
          <p:nvPr>
            <p:ph type="subTitle" idx="1"/>
          </p:nvPr>
        </p:nvSpPr>
        <p:spPr>
          <a:xfrm>
            <a:off x="849312" y="30495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r>
              <a:rPr lang="en-US" sz="2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SmallWorld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7daed9ba2_0_738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Glossary - Updated</a:t>
            </a:r>
            <a:endParaRPr/>
          </a:p>
        </p:txBody>
      </p:sp>
      <p:sp>
        <p:nvSpPr>
          <p:cNvPr id="261" name="Google Shape;261;g347daed9ba2_0_738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086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Direction—the direction of travel.  Limited to north, south, east, and west.</a:t>
            </a:r>
            <a:endParaRPr sz="21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086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2100"/>
              <a:t>Item—A text-based object the player can pick up, drop, and use to enter a place</a:t>
            </a:r>
            <a:endParaRPr sz="2100"/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Place—A place in the virtual world.  Places are linked to other places, allowing travel.  The player is always located at some place</a:t>
            </a:r>
            <a:endParaRPr sz="2100"/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Player—The user’s avatar within the computer.</a:t>
            </a:r>
            <a:endParaRPr sz="21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000"/>
              <a:buChar char="●"/>
            </a:pPr>
            <a:r>
              <a:rPr lang="en-US" sz="2100"/>
              <a:t>Riddle—A text based problem (thought), The player must solve to enter the room</a:t>
            </a:r>
            <a:endParaRPr sz="2100"/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User—The individual playing the game on the computer.</a:t>
            </a:r>
            <a:endParaRPr sz="2100"/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World—A complete virtual “small world” within the computer.</a:t>
            </a:r>
            <a:endParaRPr sz="2100"/>
          </a:p>
          <a:p>
            <a:pPr marL="342900" lvl="0" indent="-30861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XML—Extensible Markup Language (</a:t>
            </a:r>
            <a:r>
              <a:rPr lang="en-US" sz="21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http://www.xml.org</a:t>
            </a:r>
            <a:r>
              <a:rPr lang="en-US" sz="21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 txBox="1">
            <a:spLocks noGrp="1"/>
          </p:cNvSpPr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 Model</a:t>
            </a:r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subTitle" idx="1"/>
          </p:nvPr>
        </p:nvSpPr>
        <p:spPr>
          <a:xfrm>
            <a:off x="849312" y="30495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r>
              <a:rPr lang="en-US" sz="2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 World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 Class Diagram - Example</a:t>
            </a:r>
            <a:endParaRPr dirty="0"/>
          </a:p>
        </p:txBody>
      </p:sp>
      <p:pic>
        <p:nvPicPr>
          <p:cNvPr id="276" name="Google Shape;2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16650"/>
            <a:ext cx="9143999" cy="3735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e5c1723b5_0_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2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 Class Diagram -</a:t>
            </a:r>
            <a:r>
              <a:rPr lang="en-US" sz="2600"/>
              <a:t>Updated Riddle Class</a:t>
            </a:r>
            <a:endParaRPr sz="2600"/>
          </a:p>
        </p:txBody>
      </p:sp>
      <p:pic>
        <p:nvPicPr>
          <p:cNvPr id="304" name="Google Shape;304;g34e5c1723b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2125"/>
            <a:ext cx="9266600" cy="33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World (XML file)</a:t>
            </a:r>
            <a:endParaRPr/>
          </a:p>
        </p:txBody>
      </p:sp>
      <p:pic>
        <p:nvPicPr>
          <p:cNvPr id="311" name="Google Shape;31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50" y="2630880"/>
            <a:ext cx="9053499" cy="226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>
            <a:spLocks noGrp="1"/>
          </p:cNvSpPr>
          <p:nvPr>
            <p:ph type="title" idx="4294967295"/>
          </p:nvPr>
        </p:nvSpPr>
        <p:spPr>
          <a:xfrm>
            <a:off x="0" y="-67361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Sequence Diagram</a:t>
            </a:r>
            <a:endParaRPr/>
          </a:p>
        </p:txBody>
      </p:sp>
      <p:pic>
        <p:nvPicPr>
          <p:cNvPr id="318" name="Google Shape;3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75" y="1442500"/>
            <a:ext cx="8777000" cy="37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 txBox="1"/>
          <p:nvPr/>
        </p:nvSpPr>
        <p:spPr>
          <a:xfrm>
            <a:off x="404150" y="1175125"/>
            <a:ext cx="3581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1: “Look” Command Sequence Diagram</a:t>
            </a:r>
            <a:endParaRPr sz="22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4938f1157f_0_4"/>
          <p:cNvSpPr txBox="1">
            <a:spLocks noGrp="1"/>
          </p:cNvSpPr>
          <p:nvPr>
            <p:ph type="title" idx="4294967295"/>
          </p:nvPr>
        </p:nvSpPr>
        <p:spPr>
          <a:xfrm>
            <a:off x="0" y="-67361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Sequence Diagram Cont.</a:t>
            </a:r>
            <a:endParaRPr/>
          </a:p>
        </p:txBody>
      </p:sp>
      <p:sp>
        <p:nvSpPr>
          <p:cNvPr id="326" name="Google Shape;326;g34938f1157f_0_4"/>
          <p:cNvSpPr txBox="1"/>
          <p:nvPr/>
        </p:nvSpPr>
        <p:spPr>
          <a:xfrm>
            <a:off x="404150" y="1175125"/>
            <a:ext cx="3581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2: “Go” Command Sequence Diagram</a:t>
            </a:r>
            <a:endParaRPr sz="22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7" name="Google Shape;327;g34938f1157f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" y="1666325"/>
            <a:ext cx="8960401" cy="39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938f1157f_0_13"/>
          <p:cNvSpPr txBox="1">
            <a:spLocks noGrp="1"/>
          </p:cNvSpPr>
          <p:nvPr>
            <p:ph type="title" idx="4294967295"/>
          </p:nvPr>
        </p:nvSpPr>
        <p:spPr>
          <a:xfrm>
            <a:off x="0" y="-67361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Sequence Diagram Cont.</a:t>
            </a:r>
            <a:endParaRPr/>
          </a:p>
        </p:txBody>
      </p:sp>
      <p:sp>
        <p:nvSpPr>
          <p:cNvPr id="334" name="Google Shape;334;g34938f1157f_0_13"/>
          <p:cNvSpPr txBox="1"/>
          <p:nvPr/>
        </p:nvSpPr>
        <p:spPr>
          <a:xfrm>
            <a:off x="404150" y="1175125"/>
            <a:ext cx="3581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3: Riddle Sequence Diagram</a:t>
            </a:r>
            <a:endParaRPr sz="22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35" name="Google Shape;335;g34938f1157f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950" y="1678750"/>
            <a:ext cx="8684075" cy="46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938f1157f_0_22"/>
          <p:cNvSpPr txBox="1">
            <a:spLocks noGrp="1"/>
          </p:cNvSpPr>
          <p:nvPr>
            <p:ph type="title" idx="4294967295"/>
          </p:nvPr>
        </p:nvSpPr>
        <p:spPr>
          <a:xfrm>
            <a:off x="0" y="-67361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Sequence Diagram Cont.</a:t>
            </a:r>
            <a:endParaRPr/>
          </a:p>
        </p:txBody>
      </p:sp>
      <p:pic>
        <p:nvPicPr>
          <p:cNvPr id="342" name="Google Shape;342;g34938f1157f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075" y="746025"/>
            <a:ext cx="6655850" cy="60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938f1157f_0_31"/>
          <p:cNvSpPr txBox="1">
            <a:spLocks noGrp="1"/>
          </p:cNvSpPr>
          <p:nvPr>
            <p:ph type="title" idx="4294967295"/>
          </p:nvPr>
        </p:nvSpPr>
        <p:spPr>
          <a:xfrm>
            <a:off x="0" y="-673613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Sequence Diagram Cont.</a:t>
            </a:r>
            <a:endParaRPr/>
          </a:p>
        </p:txBody>
      </p:sp>
      <p:pic>
        <p:nvPicPr>
          <p:cNvPr id="349" name="Google Shape;349;g34938f1157f_0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100" y="722375"/>
            <a:ext cx="7091074" cy="59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 txBox="1">
            <a:spLocks noGrp="1"/>
          </p:cNvSpPr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Supplemental Specification</a:t>
            </a:r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1"/>
          </p:nvPr>
        </p:nvSpPr>
        <p:spPr>
          <a:xfrm>
            <a:off x="849312" y="30495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r>
              <a:rPr lang="en-US" sz="2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SmallWorld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Functionality</a:t>
            </a:r>
            <a:endParaRPr/>
          </a:p>
        </p:txBody>
      </p:sp>
      <p:sp>
        <p:nvSpPr>
          <p:cNvPr id="364" name="Google Shape;364;p19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Saved games will be placed in XML files.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Saved game files must be portable across all supported operating systems.</a:t>
            </a:r>
            <a:endParaRPr dirty="0"/>
          </a:p>
          <a:p>
            <a:pPr marL="342900" lvl="0" indent="-245109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</a:pPr>
            <a:endParaRPr sz="2200" b="0" i="0" u="none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Usability</a:t>
            </a:r>
            <a:endParaRPr/>
          </a:p>
        </p:txBody>
      </p:sp>
      <p:sp>
        <p:nvSpPr>
          <p:cNvPr id="371" name="Google Shape;371;p20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Multiple UIs </a:t>
            </a:r>
            <a:r>
              <a:rPr lang="en-US" dirty="0"/>
              <a:t>are</a:t>
            </a: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supported for the game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Text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Graphical</a:t>
            </a:r>
            <a:endParaRPr lang="en-US" dirty="0"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Web</a:t>
            </a:r>
            <a:endParaRPr lang="en-US"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All failures should be clearly reported to the user in a form they (not a programmer) will understand.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 dirty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Deployment to users should not require any development tools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/>
          </a:p>
        </p:txBody>
      </p:sp>
      <p:sp>
        <p:nvSpPr>
          <p:cNvPr id="378" name="Google Shape;378;p21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Intermittent or random failures will make the game far less “fun” and hamper development of a “mod” community.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Supportability</a:t>
            </a:r>
            <a:endParaRPr/>
          </a:p>
        </p:txBody>
      </p:sp>
      <p:sp>
        <p:nvSpPr>
          <p:cNvPr id="385" name="Google Shape;385;p22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All source code will have detailed Javadoc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See </a:t>
            </a:r>
            <a:r>
              <a:rPr lang="en-US" sz="20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http://java.sun.com/j2se/javadoc/index.jsp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All Documentation has been stored and updated with each iteration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All code has been updated through Github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Libraries and Frameworks</a:t>
            </a:r>
            <a:endParaRPr/>
          </a:p>
        </p:txBody>
      </p:sp>
      <p:sp>
        <p:nvSpPr>
          <p:cNvPr id="392" name="Google Shape;392;p23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JDOM (</a:t>
            </a:r>
            <a:r>
              <a:rPr lang="en-US" sz="22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http://www.jdom.org</a:t>
            </a: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free library will be used to simplify creating and reading XML files.  Development will require a </a:t>
            </a:r>
            <a:r>
              <a:rPr lang="en-US" sz="18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jdom.jar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file, but because source code is available, we can “embed” JDOM within our source code for the shipping product.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 runtime license fees for this library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AWT/SWING (</a:t>
            </a:r>
            <a:r>
              <a:rPr lang="en-US" sz="2200" b="0" i="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http://java.sun.com/products/jfc/tsc/index.html</a:t>
            </a: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Sun’s standard graphical user interface framework will be used for any graphical user interfaces created for the game.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 runtime license fees for use of this library.   It is included as part of the standard Java library within a Java Runtime Environment (JRE).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sz="35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Development Tools</a:t>
            </a:r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Programming Language: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All software will be written in Java (</a:t>
            </a:r>
            <a:r>
              <a:rPr lang="en-US" sz="2000" b="0" i="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http://java.sun.com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Source Code Control System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CVS (</a:t>
            </a:r>
            <a:r>
              <a:rPr lang="en-US" sz="2000" b="0" i="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http://www.cvshome.org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Documentation and Models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/>
              <a:t>Google Docs </a:t>
            </a:r>
            <a:endParaRPr/>
          </a:p>
          <a:p>
            <a:pPr marL="692150" lvl="1" indent="-33877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Google Slides </a:t>
            </a:r>
            <a:endParaRPr/>
          </a:p>
          <a:p>
            <a:pPr marL="692150" lvl="1" indent="-33877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Astah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IDE:</a:t>
            </a:r>
            <a:endParaRPr/>
          </a:p>
          <a:p>
            <a:pPr marL="692150" lvl="1" indent="-34766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Eclipse (</a:t>
            </a:r>
            <a:r>
              <a:rPr lang="en-US" sz="2000" b="0" i="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http://www.eclipse.org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4938f1157f_0_4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Team: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4938f1157f_0_45"/>
          <p:cNvSpPr txBox="1">
            <a:spLocks noGrp="1"/>
          </p:cNvSpPr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/>
              <a:t>UI Mockups</a:t>
            </a:r>
            <a:endParaRPr/>
          </a:p>
        </p:txBody>
      </p:sp>
      <p:sp>
        <p:nvSpPr>
          <p:cNvPr id="407" name="Google Shape;407;g34938f1157f_0_45"/>
          <p:cNvSpPr txBox="1">
            <a:spLocks noGrp="1"/>
          </p:cNvSpPr>
          <p:nvPr>
            <p:ph type="subTitle" idx="1"/>
          </p:nvPr>
        </p:nvSpPr>
        <p:spPr>
          <a:xfrm>
            <a:off x="849312" y="30495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30"/>
              <a:buNone/>
            </a:pPr>
            <a:r>
              <a:rPr lang="en-US" sz="29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SmallWorld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938f1157f_0_39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/>
              <a:t>Riddle Examples</a:t>
            </a:r>
            <a:endParaRPr/>
          </a:p>
        </p:txBody>
      </p:sp>
      <p:sp>
        <p:nvSpPr>
          <p:cNvPr id="414" name="Google Shape;414;g34938f1157f_0_39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40"/>
              <a:buChar char="●"/>
            </a:pPr>
            <a:r>
              <a:rPr lang="en-US" b="1"/>
              <a:t>I am small and smelly, rotten to the core. bring me one of these to pass through this door</a:t>
            </a:r>
            <a:endParaRPr b="1"/>
          </a:p>
          <a:p>
            <a:pPr marL="692150" lvl="1" indent="-347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Item needed: Skunk Carcass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 b="1"/>
              <a:t>This door is sealed, for it has no key. But green and round will set you free</a:t>
            </a:r>
            <a:endParaRPr b="1"/>
          </a:p>
          <a:p>
            <a:pPr marL="692150" lvl="1" indent="-347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Item needed: Green Mushroom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 b="1"/>
              <a:t>The door is sealed, no knob in sight. But Golden glint will make it right</a:t>
            </a:r>
            <a:endParaRPr b="1"/>
          </a:p>
          <a:p>
            <a:pPr marL="692150" lvl="1" indent="-347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Item needed: Gold coin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 b="1"/>
              <a:t>No password here, no magic lore. Just silver's touch to cross the door</a:t>
            </a:r>
            <a:endParaRPr b="1"/>
          </a:p>
          <a:p>
            <a:pPr marL="692150" lvl="1" indent="-3476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Item needed: Silver coin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PresentationFormat>On-screen Show (4:3)</PresentationFormat>
  <Paragraphs>289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Noto Sans Symbols</vt:lpstr>
      <vt:lpstr>Century Schoolbook</vt:lpstr>
      <vt:lpstr>Courier New</vt:lpstr>
      <vt:lpstr>Calibri</vt:lpstr>
      <vt:lpstr>Arial</vt:lpstr>
      <vt:lpstr>1_Network</vt:lpstr>
      <vt:lpstr>Network</vt:lpstr>
      <vt:lpstr>Lab04-SmallWorld Artifacts</vt:lpstr>
      <vt:lpstr>Vision</vt:lpstr>
      <vt:lpstr>Summary of System Features - Updated</vt:lpstr>
      <vt:lpstr>Use Case Model</vt:lpstr>
      <vt:lpstr>PowerPoint Presentation</vt:lpstr>
      <vt:lpstr>UC1: Play Game</vt:lpstr>
      <vt:lpstr>UC2: Move</vt:lpstr>
      <vt:lpstr>UC3: Look</vt:lpstr>
      <vt:lpstr>UC4: Save Game</vt:lpstr>
      <vt:lpstr>UC5: Load Game</vt:lpstr>
      <vt:lpstr>UC5: Item- Pick Up </vt:lpstr>
      <vt:lpstr>UC5: Item- Drop </vt:lpstr>
      <vt:lpstr>UC5: Solve Riddle</vt:lpstr>
      <vt:lpstr>Glossary</vt:lpstr>
      <vt:lpstr>Glossary - Updated</vt:lpstr>
      <vt:lpstr>Domain Model</vt:lpstr>
      <vt:lpstr>Domain Class Diagram - Example</vt:lpstr>
      <vt:lpstr>Domain Class Diagram -Updated Riddle Class</vt:lpstr>
      <vt:lpstr>Example World (XML file)</vt:lpstr>
      <vt:lpstr>Sequence Diagram</vt:lpstr>
      <vt:lpstr>Sequence Diagram Cont.</vt:lpstr>
      <vt:lpstr>Sequence Diagram Cont.</vt:lpstr>
      <vt:lpstr>Sequence Diagram Cont.</vt:lpstr>
      <vt:lpstr>Sequence Diagram Cont.</vt:lpstr>
      <vt:lpstr>Supplemental Specification</vt:lpstr>
      <vt:lpstr>Functionality</vt:lpstr>
      <vt:lpstr>Usability</vt:lpstr>
      <vt:lpstr>Reliability</vt:lpstr>
      <vt:lpstr>Supportability</vt:lpstr>
      <vt:lpstr>Libraries and Frameworks</vt:lpstr>
      <vt:lpstr>Development Tools</vt:lpstr>
      <vt:lpstr>UI Mockups</vt:lpstr>
      <vt:lpstr>Riddle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Timothy Halloran</dc:creator>
  <cp:lastModifiedBy>William Locklier</cp:lastModifiedBy>
  <cp:revision>1</cp:revision>
  <dcterms:created xsi:type="dcterms:W3CDTF">2005-07-20T13:27:27Z</dcterms:created>
  <dcterms:modified xsi:type="dcterms:W3CDTF">2025-12-16T20:55:42Z</dcterms:modified>
</cp:coreProperties>
</file>